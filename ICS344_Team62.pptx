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2" r:id="rId23"/>
    <p:sldId id="273" r:id="rId24"/>
    <p:sldId id="274" r:id="rId25"/>
    <p:sldId id="275" r:id="rId26"/>
    <p:sldId id="267" r:id="rId13"/>
    <p:sldId id="268" r:id="rId14"/>
    <p:sldId id="269" r:id="rId15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_lambda1.png"/><Relationship Id="rId3" Type="http://schemas.openxmlformats.org/officeDocument/2006/relationships/image" Target="../media/img_lambda2.png"/><Relationship Id="rId4" Type="http://schemas.openxmlformats.org/officeDocument/2006/relationships/image" Target="../media/img_lambda3.png"/><Relationship Id="rId5" Type="http://schemas.openxmlformats.org/officeDocument/2006/relationships/image" Target="../media/img_lambda4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_s3_vuln.png"/><Relationship Id="rId3" Type="http://schemas.openxmlformats.org/officeDocument/2006/relationships/image" Target="../media/img_s3_fixe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ICS-344: Information Security  |  KFUPM  |  Term 252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Vulnerability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Remediation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Security in AWS — Lessons 1, 2, 3, 9 &amp; 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Region: us-east-1   |   OWASP DVSA (Damn Vulnerable Serverless Application)   | 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&amp; 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 + Vulnerable Dependencies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109728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 (JWT Forgery)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10972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04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90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 (S3 Receipts)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31720"/>
            <a:ext cx="109728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404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990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 — Admin Function JWT Bypass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109728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307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Public Access Misconfiguration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&amp;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Dependencies + Remote Code Execution via node-serialize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1 &amp; 9 — Evidence &amp; Fix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234440"/>
          </a:xfrm>
          <a:prstGeom prst="rect">
            <a:avLst/>
          </a:prstGeom>
          <a:solidFill>
            <a:srgbClr val="FFF3F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CloudWatch 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READ SUCCESS: You are reading the contents of my hacked file!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23160"/>
            <a:ext cx="41148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(Vulnerable)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serialize = require('node-serialize');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body = serialize.unserialize(event.body);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input 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42316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423160"/>
            <a:ext cx="411480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(Fixed)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body = JSON.parse(event.body);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(!['new','orders','get',...]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.includes(body.action))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400 error;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Signature Bypass — Impersonating Any User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1F4E7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— JWT Forgery Attack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JWT Structure: 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960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96012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960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96012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960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28800"/>
            <a:ext cx="109728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19202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Capture Token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22402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User B, open DevTools Network tab, copy JWT from Authorization header.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0"/>
            <a:ext cx="109728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9202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Decode Payload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402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Base64-decode the middle section to extract username and sub fields.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4612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33375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Forge Identity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3657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username and sub with victim User C's identifier. Re-encode with original signature.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461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4612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3375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Send Forged Token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657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accepts the modified token. Returns User C's full order list — no credentials needed.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— Fix &amp; Verification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40233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decodes — never verifies!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sections = auth.split('.');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data = base64.decode(sections[1]);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token = JSON.parse(data);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user = token.username; // TRUSTED!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14800" cy="3657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(Signature Verified)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Fetch Cognito JWKS &amp; verify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verifyCognitoJwt(jwt)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.then((claims)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var user = claims.username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|| claims.sub;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Only trusted after verify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.catch(() =&gt; resp(401,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{msg:'invalid token'}));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Result:  {"status": "err", "msg": "invalid token"}  — Forged token rejected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Private Receipts via Direct Lambda Invocation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— Unauthorized Receipt Access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8183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DVSA-ADMIN-GET-RECEIPT relies on API Gateway for authorization. Invoking it directly via AWS CLI bypasses all authorization checks and returns a pre-signed S3 URL to download any user's receipt.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2743200" cy="3657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API Gateway → Auth check → Lambda → Pre-signed URL (admin only)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05740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057400"/>
            <a:ext cx="274320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→ AWS CLI → Lambda directly (no auth) → Pre-signed URL returned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05740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057400"/>
            <a:ext cx="27432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downloads receipt ZIP containing private order &amp; billing data for any user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invoke --function-name DVSA-ADMIN-GET-RECEIPT --payload '{"order-id":"..."}' output.json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Leakage — Exposing Internal Implementation Details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— Stack Trace Exposure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73736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Response (Returned to Client)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"errorMessage": "'bool' object has no attribute 'lower'"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"errorType": "AttributeError"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"stackTrace": ["File \"/var/task/get_order.py\", line 32 — is_admin = json.loads(event.get(\"isAdmin\", \"false\").lower())"]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880360"/>
            <a:ext cx="41148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80360"/>
            <a:ext cx="411480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called on boolean isAdmin field.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try-except block around handler.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propagates exception to client response.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880360"/>
            <a:ext cx="41148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880360"/>
            <a:ext cx="411480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2918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bool/str isAdmin safely.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handler in try-except.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generic error to client.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full details to CloudWatch only.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Vulnerabilities Covered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412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10972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005840" cy="841248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&amp; 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033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3990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 node-serialize with JSON.parse() + input allowlist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1216152"/>
            <a:ext cx="384048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21615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8412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965960"/>
            <a:ext cx="109728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965960"/>
            <a:ext cx="1005840" cy="841248"/>
          </a:xfrm>
          <a:prstGeom prst="rect">
            <a:avLst/>
          </a:prstGeom>
          <a:solidFill>
            <a:srgbClr val="1F4E7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&amp;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039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240487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Cognito JWKS JWT signature verification on all functions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2221992"/>
            <a:ext cx="384048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219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8503920" cy="8412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971800"/>
            <a:ext cx="109728" cy="8412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971800"/>
            <a:ext cx="1005840" cy="841248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54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&amp; 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044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341071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Internal admin check + Block S3 Public Access + restrict Lambda policy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3227832"/>
            <a:ext cx="384048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32278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3977640"/>
            <a:ext cx="8503920" cy="8412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977640"/>
            <a:ext cx="109728" cy="8412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977640"/>
            <a:ext cx="1005840" cy="841248"/>
          </a:xfrm>
          <a:prstGeom prst="rect">
            <a:avLst/>
          </a:prstGeom>
          <a:solidFill>
            <a:srgbClr val="E67E22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160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050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63040" y="44165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Wrap handler in try-except, return generic errors 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4233672"/>
            <a:ext cx="384048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2336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ICS-344: Information Security  |  KFUPM  |  Term 252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— Damn Vulnerable Serverless Application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3931920"/>
            <a:ext cx="36576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L4 Divider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</a:rPr>
              <a:t>LESSON 4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</a:rPr>
              <a:t>Broken Authentication</a:t>
            </a:r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</a:rPr>
              <a:t>JWT Signature Bypass — Admin Function Authorization Failure</a:t>
            </a:r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L4 Content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Lesson 4 — JWT Bypass on Admin Update Function</a:t>
            </a:r>
          </a:p>
        </p:txBody>
      </p:sp>
      <p:sp>
        <p:nvSpPr>
          <p:cNvPr id="5" name="Shape Code BG"/>
          <p:cNvSpPr/>
          <p:nvPr/>
        </p:nvSpPr>
        <p:spPr>
          <a:xfrm>
            <a:off x="274638" y="822960"/>
            <a:ext cx="4115688" cy="32004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 lIns="91440" rIns="9144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Vulnerable Code (DVSA-ADMIN-UPDATE-ORDERS)</a:t>
            </a:r>
          </a:p>
        </p:txBody>
      </p:sp>
      <p:sp>
        <p:nvSpPr>
          <p:cNvPr id="6" name="Code BG"/>
          <p:cNvSpPr/>
          <p:nvPr/>
        </p:nvSpPr>
        <p:spPr>
          <a:xfrm>
            <a:off x="274638" y="1142888"/>
            <a:ext cx="4115688" cy="6400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 lIns="91440" rIns="91440" tIns="91440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49" charset="0"/>
              </a:rPr>
              <a:t># Line 73: No auth header check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>if "authorization" in event["headers"]: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 xml:space="preserve">  # Line 83: Raw base64 decode, no verify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 xml:space="preserve">  auth_data = base64.b64decode(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 xml:space="preserve">      token_sections[1])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49" charset="0"/>
              </a:rPr>
              <a:t xml:space="preserve">  # No signature verification!</a:t>
            </a:r>
          </a:p>
        </p:txBody>
      </p:sp>
      <p:sp>
        <p:nvSpPr>
          <p:cNvPr id="7" name="Fix Label"/>
          <p:cNvSpPr/>
          <p:nvPr/>
        </p:nvSpPr>
        <p:spPr>
          <a:xfrm>
            <a:off x="274638" y="1828928"/>
            <a:ext cx="4115688" cy="320040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rtlCol="0" anchor="ctr" lIns="91440" rIns="9144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Fixed Code (Cognito JWKS Verification)</a:t>
            </a:r>
          </a:p>
        </p:txBody>
      </p:sp>
      <p:sp>
        <p:nvSpPr>
          <p:cNvPr id="8" name="Fixed Code BG"/>
          <p:cNvSpPr/>
          <p:nvPr/>
        </p:nvSpPr>
        <p:spPr>
          <a:xfrm>
            <a:off x="274638" y="2148856"/>
            <a:ext cx="4115688" cy="731520"/>
          </a:xfrm>
          <a:prstGeom prst="rect">
            <a:avLst/>
          </a:prstGeom>
          <a:solidFill>
            <a:srgbClr val="0D2B1A"/>
          </a:solidFill>
          <a:ln/>
        </p:spPr>
        <p:txBody>
          <a:bodyPr wrap="square" rtlCol="0" anchor="t" lIns="91440" rIns="91440" tIns="91440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49" charset="0"/>
              </a:rPr>
              <a:t># Verify JWT via Cognito JWKS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>jwks = fetch_cognito_jwks(region, pool_id)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>claims = jwt.decode(token, jwks,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 xml:space="preserve">    algorithms=["RS256"])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>if not claims.get("custom:isAdmin"):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49" charset="0"/>
              </a:rPr>
              <a:t xml:space="preserve">    return 403_response()</a:t>
            </a:r>
          </a:p>
        </p:txBody>
      </p:sp>
      <p:sp>
        <p:nvSpPr>
          <p:cNvPr id="9" name="Screen Label"/>
          <p:cNvSpPr/>
          <p:nvPr/>
        </p:nvSpPr>
        <p:spPr>
          <a:xfrm>
            <a:off x="4572000" y="822960"/>
            <a:ext cx="4298280" cy="228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 lIns="9144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Attack Progression — Lambda Test Results</a:t>
            </a:r>
          </a:p>
        </p:txBody>
      </p:sp>
      <p:pic>
        <p:nvPicPr>
          <p:cNvPr id="10" name="img_lambd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51560"/>
            <a:ext cx="2057400" cy="1143000"/>
          </a:xfrm>
          <a:prstGeom prst="rect">
            <a:avLst/>
          </a:prstGeom>
        </p:spPr>
      </p:pic>
      <p:pic>
        <p:nvPicPr>
          <p:cNvPr id="11" name="img_lambda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51560"/>
            <a:ext cx="2057400" cy="1143000"/>
          </a:xfrm>
          <a:prstGeom prst="rect">
            <a:avLst/>
          </a:prstGeom>
        </p:spPr>
      </p:pic>
      <p:pic>
        <p:nvPicPr>
          <p:cNvPr id="12" name="img_lambda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85880"/>
            <a:ext cx="2057400" cy="1143000"/>
          </a:xfrm>
          <a:prstGeom prst="rect">
            <a:avLst/>
          </a:prstGeom>
        </p:spPr>
      </p:pic>
      <p:pic>
        <p:nvPicPr>
          <p:cNvPr id="13" name="img_lambda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285880"/>
            <a:ext cx="2057400" cy="1143000"/>
          </a:xfrm>
          <a:prstGeom prst="rect">
            <a:avLst/>
          </a:prstGeom>
        </p:spPr>
      </p:pic>
      <p:sp>
        <p:nvSpPr>
          <p:cNvPr id="14" name="Caption"/>
          <p:cNvSpPr/>
          <p:nvPr/>
        </p:nvSpPr>
        <p:spPr>
          <a:xfrm>
            <a:off x="4572000" y="3474000"/>
            <a:ext cx="4298280" cy="4000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txBody>
          <a:bodyPr wrap="square" rtlCol="0" anchor="ctr" lIns="91440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</a:rPr>
              <a:t>Errors: KeyError (no headers) → IndexError (no JWT) → Padding error (forged token) — each reveals attack surface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L5 Divider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</a:rPr>
              <a:t>LESSON 5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</a:rPr>
              <a:t>Sensitive Data Exposure</a:t>
            </a:r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E4F0"/>
                </a:solidFill>
                <a:latin typeface="Calibri" pitchFamily="34" charset="0"/>
              </a:rPr>
              <a:t>S3 Bucket Misconfiguration — Public Access Enabled</a:t>
            </a:r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L5 Content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itle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Lesson 5 — S3 Bucket Public Access Misconfiguration</a:t>
            </a:r>
          </a:p>
        </p:txBody>
      </p:sp>
      <p:sp>
        <p:nvSpPr>
          <p:cNvPr id="5" name="Vuln Label"/>
          <p:cNvSpPr/>
          <p:nvPr/>
        </p:nvSpPr>
        <p:spPr>
          <a:xfrm>
            <a:off x="274638" y="822960"/>
            <a:ext cx="4115688" cy="274638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 lIns="9144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Vulnerability — Block Public Access: OFF</a:t>
            </a:r>
          </a:p>
        </p:txBody>
      </p:sp>
      <p:sp>
        <p:nvSpPr>
          <p:cNvPr id="6" name="Vuln Desc"/>
          <p:cNvSpPr/>
          <p:nvPr/>
        </p:nvSpPr>
        <p:spPr>
          <a:xfrm>
            <a:off x="274638" y="1097598"/>
            <a:ext cx="4115688" cy="685800"/>
          </a:xfrm>
          <a:prstGeom prst="rect">
            <a:avLst/>
          </a:prstGeom>
          <a:solidFill>
            <a:srgbClr val="FDFEFE"/>
          </a:solidFill>
          <a:ln>
            <a:solidFill>
              <a:srgbClr val="E74C3C"/>
            </a:solidFill>
            <a:w val="19050"/>
          </a:ln>
        </p:spPr>
        <p:txBody>
          <a:bodyPr wrap="square" rtlCol="0" anchor="t" lIns="91440" rIns="91440" tIns="91440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</a:rPr>
              <a:t xml:space="preserve">The dvsa-receipts-bucket had Block All Public Access set to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</a:rPr>
              <a:t>OFF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</a:rPr>
              <a:t>. Any bucket policy or ACL could expose receipt objects to the public internet without warning.</a:t>
            </a:r>
          </a:p>
        </p:txBody>
      </p:sp>
      <p:sp>
        <p:nvSpPr>
          <p:cNvPr id="7" name="Fix Label"/>
          <p:cNvSpPr/>
          <p:nvPr/>
        </p:nvSpPr>
        <p:spPr>
          <a:xfrm>
            <a:off x="274638" y="1828928"/>
            <a:ext cx="4115688" cy="274638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rtlCol="0" anchor="ctr" lIns="9144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Fix Applied — Block All Public Access: ON</a:t>
            </a:r>
          </a:p>
        </p:txBody>
      </p:sp>
      <p:sp>
        <p:nvSpPr>
          <p:cNvPr id="8" name="Fix Desc"/>
          <p:cNvSpPr/>
          <p:nvPr/>
        </p:nvSpPr>
        <p:spPr>
          <a:xfrm>
            <a:off x="274638" y="2103566"/>
            <a:ext cx="4115688" cy="685800"/>
          </a:xfrm>
          <a:prstGeom prst="rect">
            <a:avLst/>
          </a:prstGeom>
          <a:solidFill>
            <a:srgbClr val="FDFEFE"/>
          </a:solidFill>
          <a:ln>
            <a:solidFill>
              <a:srgbClr val="1A7A4A"/>
            </a:solidFill>
            <a:w val="19050"/>
          </a:ln>
        </p:spPr>
        <p:txBody>
          <a:bodyPr wrap="square" rtlCol="0" anchor="t" lIns="91440" rIns="91440" tIns="91440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</a:rPr>
              <a:t xml:space="preserve">Block All Public Access enabled.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</a:rPr>
              <a:t>Bucket policy now explicitly blocks public access. No ACL or policy can override this setting. Receipts remain private and accessible only via pre-signed URLs generated by authorized Lambda functions.</a:t>
            </a:r>
          </a:p>
        </p:txBody>
      </p:sp>
      <p:sp>
        <p:nvSpPr>
          <p:cNvPr id="9" name="Key Lesson"/>
          <p:cNvSpPr/>
          <p:nvPr/>
        </p:nvSpPr>
        <p:spPr>
          <a:xfrm>
            <a:off x="274638" y="2880486"/>
            <a:ext cx="4115688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 lIns="91440" rIns="91440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</a:rPr>
              <a:t xml:space="preserve">Key Lesson: </a:t>
            </a:r>
            <a:r>
              <a:rPr lang="en-US" sz="1000" dirty="0">
                <a:solidFill>
                  <a:srgbClr val="ECF0F1"/>
                </a:solidFill>
                <a:latin typeface="Calibri" pitchFamily="34" charset="0"/>
              </a:rPr>
              <a:t>S3 Block Public Access is a safety net — always enable it on sensitive buckets regardless of bucket policy. Defense in depth.</a:t>
            </a:r>
          </a:p>
        </p:txBody>
      </p:sp>
      <p:sp>
        <p:nvSpPr>
          <p:cNvPr id="10" name="Screen Label"/>
          <p:cNvSpPr/>
          <p:nvPr/>
        </p:nvSpPr>
        <p:spPr>
          <a:xfrm>
            <a:off x="4572000" y="822960"/>
            <a:ext cx="4298280" cy="228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 lIns="91440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AWS S3 Console — Before vs After Fix</a:t>
            </a:r>
          </a:p>
        </p:txBody>
      </p:sp>
      <p:pic>
        <p:nvPicPr>
          <p:cNvPr id="11" name="s3_bef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598"/>
            <a:ext cx="4206480" cy="1188720"/>
          </a:xfrm>
          <a:prstGeom prst="rect">
            <a:avLst/>
          </a:prstGeom>
        </p:spPr>
      </p:pic>
      <p:sp>
        <p:nvSpPr>
          <p:cNvPr id="12" name="Before Tag"/>
          <p:cNvSpPr/>
          <p:nvPr/>
        </p:nvSpPr>
        <p:spPr>
          <a:xfrm>
            <a:off x="4572000" y="2286318"/>
            <a:ext cx="4206480" cy="18288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 lIns="9144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BEFORE: Block All Public Access = OFF (Vulnerable)</a:t>
            </a:r>
          </a:p>
        </p:txBody>
      </p:sp>
      <p:pic>
        <p:nvPicPr>
          <p:cNvPr id="13" name="s3_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60758"/>
            <a:ext cx="4206480" cy="1188720"/>
          </a:xfrm>
          <a:prstGeom prst="rect">
            <a:avLst/>
          </a:prstGeom>
        </p:spPr>
      </p:pic>
      <p:sp>
        <p:nvSpPr>
          <p:cNvPr id="14" name="After Tag"/>
          <p:cNvSpPr/>
          <p:nvPr/>
        </p:nvSpPr>
        <p:spPr>
          <a:xfrm>
            <a:off x="4572000" y="3749478"/>
            <a:ext cx="4206480" cy="182880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rtlCol="0" anchor="ctr" lIns="9144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AFTER: Block All Public Access = ON (Fixed ✓)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Vulnerability Report - ICS-344</dc:title>
  <dc:subject>PptxGenJS Presentation</dc:subject>
  <dc:creator>PptxGenJS</dc:creator>
  <cp:lastModifiedBy>PptxGenJS</cp:lastModifiedBy>
  <cp:revision>1</cp:revision>
  <dcterms:created xsi:type="dcterms:W3CDTF">2026-05-04T18:45:11Z</dcterms:created>
  <dcterms:modified xsi:type="dcterms:W3CDTF">2026-05-04T18:45:11Z</dcterms:modified>
</cp:coreProperties>
</file>